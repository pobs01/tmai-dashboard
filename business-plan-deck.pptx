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TMAI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Private AI Infrastructure for the SME Market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Business Plan &amp; Investment Opportunity — August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846320"/>
            <a:ext cx="5486400" cy="548640"/>
          </a:xfrm>
          <a:prstGeom prst="rect">
            <a:avLst/>
          </a:prstGeom>
          <a:solidFill>
            <a:srgbClr val="00D1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1FF"/>
                </a:solidFill>
              </a:rPr>
              <a:t>Cognitive Sovereignty — Stop Renting AI. Own Your Intelligence.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CONFIDENTIAL — For qualified investors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20040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1FF"/>
                </a:solidFill>
              </a:rPr>
              <a:t>$394B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Infrastructure Market by 2030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320040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1FF"/>
                </a:solidFill>
              </a:rPr>
              <a:t>30×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891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Token cost increase since 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1828800"/>
            <a:ext cx="320040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1FF"/>
                </a:solidFill>
              </a:rPr>
              <a:t>$5-10M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Seed round for hardware +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TMAI deploys private AI infrastructure for SMEs that cannot afford black-box cloud AI. Our Glass Box architecture — on-premises NVIDIA hardware running open-weight LLMs — delivers zero data leakage, fixed CapEx, and unlimited agent loops at zero marginal cost.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Founded by Pete Brooke-Sumner (CEO TMI Digital, Google Partner). Ask: $5-10M Seed Round. Path to R145M ARR by Year 3.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PROBLEM: CLOUD AI FRAGILITY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5486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• IP Leakage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Training data sent to cloud becomes their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• Unpredictable Costs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24688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30× token cost rise; 24× consumption growth (Goldman Sachs)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5303520" cy="5486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• Regulatory Risk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POPIA/GDPR impossible with third-party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3931920"/>
            <a:ext cx="5303520" cy="5486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• Model Drift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4572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Black-box updates break production without warning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80% hidden losses per $1 AI procurement | 320% AI spend growth | 24× token demand by 2030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GLASS BOX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Not a black box. Every decision traceable. Every weight yours. Every byte stays on your hardware.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474720" cy="13716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Core 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GPU clusters for inference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2286000"/>
            <a:ext cx="3474720" cy="13716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Vector 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RAG retrieval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38160" y="2286000"/>
            <a:ext cx="3474720" cy="13716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Guardrails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PII filtering &amp; hallucination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474720" cy="13716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Control Plane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Model versions &amp;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3931920"/>
            <a:ext cx="3474720" cy="13716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Agentic Runtime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Unlimited loops at zero marginal cost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3931920"/>
            <a:ext cx="3474720" cy="13716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Cost 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Token tracking vs cloud APIs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1FF"/>
                </a:solidFill>
              </a:rPr>
              <a:t>Think of it like buying a generator instead of renting electricity. You pay once, you control the output, no surprise bills.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1FF"/>
                </a:solidFill>
              </a:rPr>
              <a:t>$394B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Infrastructure by 2030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1FF"/>
                </a:solidFill>
              </a:rPr>
              <a:t>$15-25B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SME Private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1FF"/>
                </a:solidFill>
              </a:rPr>
              <a:t>5.5M+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0467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SA SMEs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1FF"/>
                </a:solidFill>
              </a:rPr>
              <a:t>WHY NOW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Token costs up 30× (EY)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24× consumption growth by 2030 (Goldman Sachs)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ASUS GX10 at $2,999 — entry affordable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623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Microsoft $329M in SA AI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✓ Refiant AI (SA) raised $5M in 2025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Private LLM Hosting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1FF"/>
                </a:solidFill>
              </a:rPr>
              <a:t>R15-75K/month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On-prem 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for SMEs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828800"/>
            <a:ext cx="34747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TMI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1FF"/>
                </a:solidFill>
              </a:rPr>
              <a:t>R20-50K/client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0624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automation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20+ existing clients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Subscription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1FF"/>
                </a:solidFill>
              </a:rPr>
              <a:t>R5-75K/mo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Tiered SaaS with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&amp; guardrails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Unit Economics: GX10 $2,999 → $1.5-4.3K/mo → 3-8mo payback | CAC payback &lt; 12mo | LTV:CAC &gt; 4:1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1FF"/>
                </a:solidFill>
              </a:rPr>
              <a:t>Phase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Months 1-6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56032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Deploy hardware, TMI Digital integration (20 existing clients)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1FF"/>
                </a:solidFill>
              </a:rPr>
              <a:t>Phase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Months 6-12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2743200"/>
            <a:ext cx="256032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SA SME market — legal, healthcare, finance — 50 clients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1FF"/>
                </a:solidFill>
              </a:rPr>
              <a:t>Phase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Months 12-24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56032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Scale to broader Africa — 200+ clients, multi-node clusters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1FF"/>
                </a:solidFill>
              </a:rPr>
              <a:t>Phase 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Months 24-36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2743200"/>
            <a:ext cx="2560320" cy="9144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Pan-African expansion, white-labeling for MSPs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</a:rPr>
              <a:t>TARGET SEGMENTS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486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Legal (contract analysis)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5486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Healthcare (POPIA-compliant)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Financial (audit &amp; compliance)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5760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Marketing Agencies (reporting &amp; creative)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0175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828800"/>
            <a:ext cx="30175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TMAI Glass Box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1828800"/>
            <a:ext cx="30175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Cloud APIs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828800"/>
            <a:ext cx="30175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DIY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 Privacy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Sovereignty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Third-party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0" y="2286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Full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Cost Predictability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Fixed CapEx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Per-token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2743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Fixed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Model Ownership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2004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Full IP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Rental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32004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Full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Sector-specific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Generic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36576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Self-managed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Transparency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1148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Glass Box audit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1148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Black box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41148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Full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Managed 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572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Fully managed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572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45720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DIY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Agent Loops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5029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Zero marginal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029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✗ 24× cost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09760" y="5029200"/>
            <a:ext cx="3017520" cy="457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✓ Zero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0175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Metric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828800"/>
            <a:ext cx="30175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Year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1828800"/>
            <a:ext cx="30175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Year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828800"/>
            <a:ext cx="30175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Year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Clients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75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0" y="237744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200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MRR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R1.25M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R3.75M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292608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R10M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47472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R20M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47472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R55M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347472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1FF"/>
                </a:solidFill>
              </a:rPr>
              <a:t>R145M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Gross Profit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02336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R13M (65%)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02336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R38.5M (70%)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023360"/>
            <a:ext cx="3017520" cy="502920"/>
          </a:xfrm>
          <a:prstGeom prst="rect">
            <a:avLst/>
          </a:prstGeom>
          <a:solidFill>
            <a:srgbClr val="131C31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R110.5M (76%)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Net Income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57200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R1M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57200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R16.5M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4572000"/>
            <a:ext cx="3017520" cy="50292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R65.5M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Net margin improvement: 5% → 30% → 45% as hardware amortization completes and subscription revenue scales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FUNDS: $5-10M SEED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Hardware Procurement  40%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</a:rPr>
              <a:t>$2-3.5M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GX10 units, DGX Stations, cluster infrastructure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498848" cy="13716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Engineering Team  25%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</a:rPr>
              <a:t>$1.25-2.5M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ML engineers, DevOps, full-stack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2811780" cy="13716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Sales &amp; Marketing  15%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</a:rPr>
              <a:t>$750K-1.5M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Channel partnerships, case studies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687068" cy="13716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Operations &amp; Legal  10%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</a:rPr>
              <a:t>$500K-1M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Compliance, insurance, office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1124712" cy="13716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Working Capital  10-15%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5120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</a:rPr>
              <a:t>$500K-1.5M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18-month runway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623560"/>
            <a:ext cx="1124712" cy="137160"/>
          </a:xfrm>
          <a:prstGeom prst="rect">
            <a:avLst/>
          </a:prstGeom>
          <a:solidFill>
            <a:srgbClr val="00D1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&amp; ADVISORS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Pete Brooke-Sumner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CEO &amp; Founder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Founder TMI Digital / TMAI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20+ years digital marketing infrastructure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Google Partner (MCC 9060186325)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Manages 20+ client accounts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Built TMAI Glass Box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828800"/>
            <a:ext cx="5486400" cy="274320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KEY HIRES NEEDED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CTO — ML/AI Infrastructure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Head of Sales — Africa Expansion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Lead ML Engineer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ADVISORY GAPS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Enterprise AI Compliance Advisor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Healthcare Sector Advisor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1FF"/>
                </a:solidFill>
              </a:rPr>
              <a:t>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HIGH — Hardware Supply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3035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Multi-vendor; GX10 ships Aug 2026; DGX via DataSciences Corp (SA)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HIGH — Talent Shortage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2377440"/>
            <a:ext cx="53035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Remote team; SA ML talent pool (Refiant AI proof)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AD1B"/>
                </a:solidFill>
              </a:rPr>
              <a:t>MEDIUM — Competition from Hyperscalers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3035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First-mover in SA SME; regulatory moat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AD1B"/>
                </a:solidFill>
              </a:rPr>
              <a:t>MEDIUM — Customer Education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3840480"/>
            <a:ext cx="53035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TMI client trust; case studies; ROI demos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LOW-MED — Regulatory Uncertainty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53035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SA AI policy Jan 2027; POPIA established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754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LOW — Token Cost Deflation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5303520"/>
            <a:ext cx="5303520" cy="548640"/>
          </a:xfrm>
          <a:prstGeom prst="rect">
            <a:avLst/>
          </a:prstGeom>
          <a:solidFill>
            <a:srgbClr val="131C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Volume growth (24×) = Jevons Paradox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1371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1FF"/>
                </a:solidFill>
              </a:rPr>
              <a:t>$5-10M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SEED ROUND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Path to R145M ARR by Year 3 (45% net margins)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</a:rPr>
              <a:t>Every SME deserves cognitive sovereignty. TMAI makes private AI infrastructure accessible, affordable, and transparent — the Glass Box standard for the African market and beyond.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5486400"/>
            <a:ext cx="3657600" cy="640080"/>
          </a:xfrm>
          <a:prstGeom prst="rect">
            <a:avLst/>
          </a:prstGeom>
          <a:solidFill>
            <a:srgbClr val="00D1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Schedule a demo: ceo@tmai.ltd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2026-08-13T07:44:51Z</dcterms:created>
  <dcterms:modified xsi:type="dcterms:W3CDTF">2026-08-13T07:44:51Z</dcterms:modified>
</cp:coreProperties>
</file>